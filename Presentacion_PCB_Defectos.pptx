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635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Clasificación de defectos en PCB
mediante Visión por Computador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0A46E"/>
                </a:solidFill>
                <a:latin typeface="Calibri"/>
              </a:rPr>
              <a:t>Comparación de 5 enfoques metodológicos: de características manuales a deep learning con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Jorge Miguel Ortega Anillo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3CC"/>
                </a:solidFill>
                <a:latin typeface="Calibri"/>
              </a:rPr>
              <a:t>Universidad del Norte · Ingeniería Electrónica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INTRODUCCIÓN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Motivación: ¿por qué automatizar la inspección de PCB?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El control de calidad en manufactura electrónica depende de detectar defectos antes del ensamblaje final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Un defecto no detectado (un circuito abierto, un cortocircuito) causa fallas funcionales del producto terminado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La inspección visual manual es lenta, no escala con los volúmenes de producción y es propensa a error humano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La inspección óptica automática (AOI) basada en visión por computador es el estándar industrial hacia el que se avanza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INTRODUCCIÓN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Los 6 tipos de defecto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64327" cy="502920"/>
          </a:xfrm>
          <a:prstGeom prst="rect">
            <a:avLst/>
          </a:prstGeom>
          <a:solidFill>
            <a:srgbClr val="2F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FALTA COBRE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3643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B2B2B"/>
                </a:solidFill>
                <a:latin typeface="Calibri"/>
              </a:rPr>
              <a:t>Orificio faltante  </a:t>
            </a:r>
            <a:r>
              <a:rPr sz="1200" i="1">
                <a:solidFill>
                  <a:srgbClr val="7A7A7A"/>
                </a:solidFill>
                <a:latin typeface="Calibri"/>
              </a:rPr>
              <a:t>(missing_hole)</a:t>
            </a:r>
          </a:p>
          <a:p>
            <a:r>
              <a:rPr sz="1400">
                <a:solidFill>
                  <a:srgbClr val="2B2B2B"/>
                </a:solidFill>
                <a:latin typeface="Calibri"/>
              </a:rPr>
              <a:t>Falta un taladro/vía donde el diseño lo especifica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3643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B2B2B"/>
                </a:solidFill>
                <a:latin typeface="Calibri"/>
              </a:rPr>
              <a:t>Mordedura de ratón  </a:t>
            </a:r>
            <a:r>
              <a:rPr sz="1200" i="1">
                <a:solidFill>
                  <a:srgbClr val="7A7A7A"/>
                </a:solidFill>
                <a:latin typeface="Calibri"/>
              </a:rPr>
              <a:t>(mouse_bite)</a:t>
            </a:r>
          </a:p>
          <a:p>
            <a:r>
              <a:rPr sz="1400">
                <a:solidFill>
                  <a:srgbClr val="2B2B2B"/>
                </a:solidFill>
                <a:latin typeface="Calibri"/>
              </a:rPr>
              <a:t>Muescas en el borde de una pista, como mordisqueada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53643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B2B2B"/>
                </a:solidFill>
                <a:latin typeface="Calibri"/>
              </a:rPr>
              <a:t>Circuito abierto  </a:t>
            </a:r>
            <a:r>
              <a:rPr sz="1200" i="1">
                <a:solidFill>
                  <a:srgbClr val="7A7A7A"/>
                </a:solidFill>
                <a:latin typeface="Calibri"/>
              </a:rPr>
              <a:t>(open_circuit)</a:t>
            </a:r>
          </a:p>
          <a:p>
            <a:r>
              <a:rPr sz="1400">
                <a:solidFill>
                  <a:srgbClr val="2B2B2B"/>
                </a:solidFill>
                <a:latin typeface="Calibri"/>
              </a:rPr>
              <a:t>Una pista de cobre queda interrumpida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371600"/>
            <a:ext cx="5364327" cy="50292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SOBRA COBRE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057400"/>
            <a:ext cx="53643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B2B2B"/>
                </a:solidFill>
                <a:latin typeface="Calibri"/>
              </a:rPr>
              <a:t>Cortocircuito  </a:t>
            </a:r>
            <a:r>
              <a:rPr sz="1200" i="1">
                <a:solidFill>
                  <a:srgbClr val="7A7A7A"/>
                </a:solidFill>
                <a:latin typeface="Calibri"/>
              </a:rPr>
              <a:t>(short)</a:t>
            </a:r>
          </a:p>
          <a:p>
            <a:r>
              <a:rPr sz="1400">
                <a:solidFill>
                  <a:srgbClr val="2B2B2B"/>
                </a:solidFill>
                <a:latin typeface="Calibri"/>
              </a:rPr>
              <a:t>Un puente de cobre indebido conecta dos pistas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3474720"/>
            <a:ext cx="53643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B2B2B"/>
                </a:solidFill>
                <a:latin typeface="Calibri"/>
              </a:rPr>
              <a:t>Espuela  </a:t>
            </a:r>
            <a:r>
              <a:rPr sz="1200" i="1">
                <a:solidFill>
                  <a:srgbClr val="7A7A7A"/>
                </a:solidFill>
                <a:latin typeface="Calibri"/>
              </a:rPr>
              <a:t>(spur)</a:t>
            </a:r>
          </a:p>
          <a:p>
            <a:r>
              <a:rPr sz="1400">
                <a:solidFill>
                  <a:srgbClr val="2B2B2B"/>
                </a:solidFill>
                <a:latin typeface="Calibri"/>
              </a:rPr>
              <a:t>Apéndice de cobre que sobresale sin conectar con 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4892040"/>
            <a:ext cx="53643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B2B2B"/>
                </a:solidFill>
                <a:latin typeface="Calibri"/>
              </a:rPr>
              <a:t>Cobre espurio  </a:t>
            </a:r>
            <a:r>
              <a:rPr sz="1200" i="1">
                <a:solidFill>
                  <a:srgbClr val="7A7A7A"/>
                </a:solidFill>
                <a:latin typeface="Calibri"/>
              </a:rPr>
              <a:t>(spurious_copper)</a:t>
            </a:r>
          </a:p>
          <a:p>
            <a:r>
              <a:rPr sz="1400">
                <a:solidFill>
                  <a:srgbClr val="2B2B2B"/>
                </a:solidFill>
                <a:latin typeface="Calibri"/>
              </a:rPr>
              <a:t>Isla de cobre aislada, resto de un error de grabado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Dataset: PKU-Market-PCB</a:t>
            </a:r>
          </a:p>
        </p:txBody>
      </p:sp>
      <p:pic>
        <p:nvPicPr>
          <p:cNvPr id="7" name="Picture 6" descr="14_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94989"/>
            <a:ext cx="6949440" cy="30452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Huang &amp; Wei (2019) — PKU-Market-PCB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693 placas, 2953 defectos anotados (Pascal VOC / XML)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Defectos sintéticos: insertados digitalmente sobre fotografías de placas reales, capturadas con un sistema similar a un AOI industrial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Dataset razonablemente balanceado entre las 6 clases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El problema del tamaño</a:t>
            </a:r>
          </a:p>
        </p:txBody>
      </p:sp>
      <p:pic>
        <p:nvPicPr>
          <p:cNvPr id="7" name="Picture 6" descr="08_placas_compl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5763"/>
            <a:ext cx="6949440" cy="39237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Cada defecto ocupa apenas ~0.07% del área de la placa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Varias clases comparten exactamente la misma plantilla de placa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Clasificar la imagen completa llevaría al modelo a memorizar diseños, no a detectar defectos (shortcut learning)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Solución: clasificación por parches</a:t>
            </a:r>
          </a:p>
        </p:txBody>
      </p:sp>
      <p:pic>
        <p:nvPicPr>
          <p:cNvPr id="7" name="Picture 6" descr="12_parches_recor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6358"/>
            <a:ext cx="6949440" cy="38025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Ventana cuadrada centrada en cada defecto, margen de 1.8× su lado mayor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693 placas → 2953 parches: el defecto pasa a ser la señal dominante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El margen deja contexto de cobre/sustrato alrededor sin diluir la señal del defecto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Evitando la fuga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Cada placa aporta entre 3 y 5 parches (varios defectos por placa)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Un split aleatorio por parche dejaría fragmentos de la misma placa en train y test — fuga de datos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Solución: GroupShuffleSplit agrupado por placa (groups='placa')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Resultado: 2078 train / 433 val / 442 test, verificado sin placas compartidas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PIPELINE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Qué “ve” cada descriptor manual</a:t>
            </a:r>
          </a:p>
        </p:txBody>
      </p:sp>
      <p:pic>
        <p:nvPicPr>
          <p:cNvPr id="7" name="Picture 6" descr="20_hog_lb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954" y="1280160"/>
            <a:ext cx="2946811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HOG: orientación de los bordes — resalta la dirección de las pistas de cobre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LBP: textura local píxel a píxel — cobre liso vs. bordes irregulares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Vector final: HOG + LBP + 7 descriptores geométricos = 1781 valores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RESUMEN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Los 5 pipelines, de manual a automático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874519" cy="1554480"/>
          </a:xfrm>
          <a:prstGeom prst="rect">
            <a:avLst/>
          </a:prstGeom>
          <a:solidFill>
            <a:srgbClr val="2F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P1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Manual
+ SVM/RF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59" y="2926080"/>
            <a:ext cx="430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7A7A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3614" y="2377440"/>
            <a:ext cx="1874519" cy="1554480"/>
          </a:xfrm>
          <a:prstGeom prst="rect">
            <a:avLst/>
          </a:prstGeom>
          <a:solidFill>
            <a:srgbClr val="2F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P2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Manual
+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8133" y="2926080"/>
            <a:ext cx="430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7A7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8588" y="2377440"/>
            <a:ext cx="1874519" cy="1554480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P3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Features ResNet50
+ SVM/RF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3107" y="2926080"/>
            <a:ext cx="430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7A7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3562" y="2377440"/>
            <a:ext cx="1874519" cy="1554480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P4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ResNet50
end-to-end
(congelada)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8081" y="2926080"/>
            <a:ext cx="430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A7A7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68536" y="2377440"/>
            <a:ext cx="1874519" cy="155448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P5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ResNet50
fine-tuning
(conv5_x)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A7A"/>
                </a:solidFill>
                <a:latin typeface="Calibri"/>
              </a:rPr>
              <a:t>Más manual e interpretable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A7A7A"/>
                </a:solidFill>
                <a:latin typeface="Calibri"/>
              </a:rPr>
              <a:t>Más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C16E2E"/>
                </a:solidFill>
                <a:latin typeface="Calibri"/>
              </a:rPr>
              <a:t>●  </a:t>
            </a:r>
            <a:r>
              <a:rPr sz="1600">
                <a:solidFill>
                  <a:srgbClr val="2B2B2B"/>
                </a:solidFill>
                <a:latin typeface="Calibri"/>
              </a:rPr>
              <a:t>Pipelines 1–3: el backbone de ResNet50, cuando se usa, permanece congelado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6E2E"/>
                </a:solidFill>
                <a:latin typeface="Calibri"/>
              </a:rPr>
              <a:t>●  </a:t>
            </a:r>
            <a:r>
              <a:rPr sz="1600">
                <a:solidFill>
                  <a:srgbClr val="2B2B2B"/>
                </a:solidFill>
                <a:latin typeface="Calibri"/>
              </a:rPr>
              <a:t>Pipeline 4 responde al requisito del ejercicio (pesos preentrenados congelados)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6E2E"/>
                </a:solidFill>
                <a:latin typeface="Calibri"/>
              </a:rPr>
              <a:t>●  </a:t>
            </a:r>
            <a:r>
              <a:rPr sz="1600">
                <a:solidFill>
                  <a:srgbClr val="2B2B2B"/>
                </a:solidFill>
                <a:latin typeface="Calibri"/>
              </a:rPr>
              <a:t>Pipeline 5 es un experimento adicional: fine-tuning parcial, no reemplaza al Pipeline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PIPELINE 1 ·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1 — Manual + Machine Learning clásico</a:t>
            </a:r>
          </a:p>
        </p:txBody>
      </p:sp>
      <p:pic>
        <p:nvPicPr>
          <p:cNvPr id="7" name="Picture 6" descr="25_p1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5" y="1280160"/>
            <a:ext cx="645116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Modelo: Random Forest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F1-macro = 0.884   ·   Accuracy = 89.8%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Destaca en missing_hole (F1 = 1.00, recall = 1.00)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Más débil en spur (F1 = 0.66, recall = 0.59)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PIPELINE 2 ·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2 — Manual + Red Neuronal (MLP)</a:t>
            </a:r>
          </a:p>
        </p:txBody>
      </p:sp>
      <p:pic>
        <p:nvPicPr>
          <p:cNvPr id="7" name="Picture 6" descr="34_p2_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0219"/>
            <a:ext cx="6949440" cy="247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Modelo: MLP 256→128→64→6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F1-macro = 0.842   ·   Accuracy = 85.3%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Destaca en missing_hole (F1 = 1.00, recall = 1.00)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Más débil en spur (F1 = 0.64, recall = 0.67)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PIPELINE 3 ·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3 — Features ResNet50 (congelada) + ML</a:t>
            </a:r>
          </a:p>
        </p:txBody>
      </p:sp>
      <p:pic>
        <p:nvPicPr>
          <p:cNvPr id="7" name="Picture 6" descr="46_p3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5" y="1280160"/>
            <a:ext cx="645116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Modelo: SVM (RBF)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F1-macro = 0.850   ·   Accuracy = 85.8%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Destaca en missing_hole (F1 = 1.00, recall = 1.00)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Más débil en mouse_bite (F1 = 0.71, recall = 0.75)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PIPELINE 4 ·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4 — ResNet50 end-to-end (pesos congelados)</a:t>
            </a:r>
          </a:p>
        </p:txBody>
      </p:sp>
      <p:pic>
        <p:nvPicPr>
          <p:cNvPr id="7" name="Picture 6" descr="57_p4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6041"/>
            <a:ext cx="6949440" cy="2503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Modelo: Cabeza densa entrenable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F1-macro = 0.858   ·   Accuracy = 86.4%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Destaca en missing_hole (F1 = 0.99, recall = 1.00)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Más débil en spur (F1 = 0.68, recall = 0.68)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PIPELINE 5 · EXPERIMENTO 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5 — ResNet50 con fine-tuning parcial (experimento adicional)</a:t>
            </a:r>
          </a:p>
        </p:txBody>
      </p:sp>
      <p:pic>
        <p:nvPicPr>
          <p:cNvPr id="7" name="Picture 6" descr="68_p5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75" y="1280160"/>
            <a:ext cx="645116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554480"/>
            <a:ext cx="38249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Modelo: Fine-tuning conv5_x (lr=1e-5)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Parámetros entrenables: 526,086 (P4) → 15,502,086 (64% del modelo)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F1-macro = 0.958   ·   Accuracy = 95.9%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Destaca en missing_hole (F1 = 1.00, recall = 1.00)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6E2E"/>
                </a:solidFill>
                <a:latin typeface="Calibri"/>
              </a:rPr>
              <a:t>●  </a:t>
            </a:r>
            <a:r>
              <a:rPr sz="1700">
                <a:solidFill>
                  <a:srgbClr val="2B2B2B"/>
                </a:solidFill>
                <a:latin typeface="Calibri"/>
              </a:rPr>
              <a:t>Más débil en spur (F1 = 0.90, recall = 0.89)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Comparación final de las 5 pipelines</a:t>
            </a:r>
          </a:p>
        </p:txBody>
      </p:sp>
      <p:pic>
        <p:nvPicPr>
          <p:cNvPr id="7" name="Picture 6" descr="71_comparac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6315"/>
            <a:ext cx="7223760" cy="392832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92440" y="1600200"/>
          <a:ext cx="355061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418"/>
                <a:gridCol w="1136196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1B3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F1-macro</a:t>
                      </a:r>
                    </a:p>
                  </a:txBody>
                  <a:tcPr>
                    <a:solidFill>
                      <a:srgbClr val="1B3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ResNet50 fine-tuning (conv5_x)</a:t>
                      </a:r>
                    </a:p>
                  </a:txBody>
                  <a:tcPr>
                    <a:solidFill>
                      <a:srgbClr val="E0A4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0.9580</a:t>
                      </a:r>
                    </a:p>
                  </a:txBody>
                  <a:tcPr>
                    <a:solidFill>
                      <a:srgbClr val="E0A4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Manual + Random Forest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0.8839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Manual + SVM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0.8658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ResNet50 end-to-end (congelada)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0.8575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Features ResNet50 + SVM (RBF)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0.8495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Manual + MLP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0.8418</a:t>
                      </a:r>
                    </a:p>
                  </a:txBody>
                  <a:tcPr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Hallazgos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16E2E"/>
                </a:solidFill>
                <a:latin typeface="Calibri"/>
              </a:rPr>
              <a:t>●  </a:t>
            </a:r>
            <a:r>
              <a:rPr sz="1800">
                <a:solidFill>
                  <a:srgbClr val="2B2B2B"/>
                </a:solidFill>
                <a:latin typeface="Calibri"/>
              </a:rPr>
              <a:t>Con pesos CONGELADOS, las características manuales superan a ResNet50: el desajuste de dominio pesa más que el tamaño del modelo (ImageNet = objetos naturales, PCB = geometría sintética)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16E2E"/>
                </a:solidFill>
                <a:latin typeface="Calibri"/>
              </a:rPr>
              <a:t>●  </a:t>
            </a:r>
            <a:r>
              <a:rPr sz="1800">
                <a:solidFill>
                  <a:srgbClr val="2B2B2B"/>
                </a:solidFill>
                <a:latin typeface="Calibri"/>
              </a:rPr>
              <a:t>El fine-tuning parcial (Pipeline 5) revierte esto y alcanza F1-macro = 0.958, muy por encima de todos los demás — refuerza la hipótesis: el problema no era ResNet50, era tenerla congelada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16E2E"/>
                </a:solidFill>
                <a:latin typeface="Calibri"/>
              </a:rPr>
              <a:t>●  </a:t>
            </a:r>
            <a:r>
              <a:rPr sz="1800">
                <a:solidFill>
                  <a:srgbClr val="2B2B2B"/>
                </a:solidFill>
                <a:latin typeface="Calibri"/>
              </a:rPr>
              <a:t>missing_hole se clasifica perfecto en todos los enfoques: ausencia total de material, firma geométrica inconfundible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16E2E"/>
                </a:solidFill>
                <a:latin typeface="Calibri"/>
              </a:rPr>
              <a:t>●  </a:t>
            </a:r>
            <a:r>
              <a:rPr sz="1800">
                <a:solidFill>
                  <a:srgbClr val="2B2B2B"/>
                </a:solidFill>
                <a:latin typeface="Calibri"/>
              </a:rPr>
              <a:t>spur es el cuello de botella en los enfoques congelados, confundido con mouse_bite — ambos son variaciones sutiles del borde de una pista de cobre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0760"/>
            <a:ext cx="12191695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46E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Limitaciones y trabajo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Defectos sintéticos (insertados digitalmente), no defectos reales de línea de producción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La ambigüedad spur / mouse_bite persiste, en menor medida, incluso en el mejor enfoque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Más contexto en el recorte del parche (margen mayor que 1.8×)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Detección de objetos en vez de clasificación (localizar el defecto, no solo tipificarlo)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C16E2E"/>
                </a:solidFill>
                <a:latin typeface="Calibri"/>
              </a:rPr>
              <a:t>●  </a:t>
            </a:r>
            <a:r>
              <a:rPr sz="2000">
                <a:solidFill>
                  <a:srgbClr val="2B2B2B"/>
                </a:solidFill>
                <a:latin typeface="Calibri"/>
              </a:rPr>
              <a:t>Comparación pixel a pixel contra una plantilla de referencia sin defectos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PCB · Visión por Computador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7A7A"/>
                </a:solidFill>
                <a:latin typeface="Calibri"/>
              </a:rPr>
              <a:t>Jorge Miguel Ortega Anillo · Universidad del Norte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En dominios de inspección industrial alejados de ImageNet, un enfoque de características manuales bien diseñadas es un baseline obligatorio antes de asumir que “más deep learning” es mejor.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663440"/>
            <a:ext cx="3931920" cy="50800"/>
          </a:xfrm>
          <a:prstGeom prst="rect">
            <a:avLst/>
          </a:prstGeom>
          <a:solidFill>
            <a:srgbClr val="C16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0A46E"/>
                </a:solidFill>
                <a:latin typeface="Calibri"/>
              </a:rPr>
              <a:t>Gracias —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defectos en PCB mediante Visión por Computador</dc:title>
  <dc:subject>Comparación de 5 pipelines de clasificación de defectos en PCB</dc:subject>
  <dc:creator>Jorge Miguel Ortega Anillo</dc:creator>
  <cp:keywords/>
  <dc:description>Generado automáticamente por generar_diapositivas.py a partir de PCB_Defectos_5Pipelines_Documentado.ipynb</dc:description>
  <cp:lastModifiedBy>Jorge Miguel Ortega Anillo</cp:lastModifiedBy>
  <cp:revision>1</cp:revision>
  <dcterms:created xsi:type="dcterms:W3CDTF">2026-09-07T04:41:27Z</dcterms:created>
  <dcterms:modified xsi:type="dcterms:W3CDTF">2026-09-07T04:41:27Z</dcterms:modified>
  <cp:category/>
</cp:coreProperties>
</file>